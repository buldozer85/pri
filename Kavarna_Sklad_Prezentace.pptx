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9" r:id="rId4"/>
    <p:sldId id="273" r:id="rId5"/>
    <p:sldId id="274" r:id="rId6"/>
    <p:sldId id="275" r:id="rId7"/>
    <p:sldId id="276" r:id="rId8"/>
    <p:sldId id="268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e4a21a45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e4a21a45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EE6C66B-E8ED-5DE4-B13F-2F180B16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e4a21a457_0_83:notes">
            <a:extLst>
              <a:ext uri="{FF2B5EF4-FFF2-40B4-BE49-F238E27FC236}">
                <a16:creationId xmlns:a16="http://schemas.microsoft.com/office/drawing/2014/main" id="{640F61AC-F130-09C0-5E97-7B9132EB9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e4a21a457_0_83:notes">
            <a:extLst>
              <a:ext uri="{FF2B5EF4-FFF2-40B4-BE49-F238E27FC236}">
                <a16:creationId xmlns:a16="http://schemas.microsoft.com/office/drawing/2014/main" id="{B73E46AE-81F8-D55C-F5DE-E4EE91B53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629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e7623963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e7623963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618150"/>
            <a:ext cx="5937662" cy="1442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Kavárna – Sklad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131757" y="4139200"/>
            <a:ext cx="1939808" cy="569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Bc. Tomáš Dvořák </a:t>
            </a:r>
            <a:br>
              <a:rPr lang="cs" sz="13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cs" sz="13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Bc. Šimon Hrdý</a:t>
            </a:r>
            <a:br>
              <a:rPr lang="cs" sz="13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cs" sz="13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Bc. Antonín Pecka</a:t>
            </a:r>
          </a:p>
        </p:txBody>
      </p:sp>
      <p:pic>
        <p:nvPicPr>
          <p:cNvPr id="19" name="Google Shape;66;p14">
            <a:extLst>
              <a:ext uri="{FF2B5EF4-FFF2-40B4-BE49-F238E27FC236}">
                <a16:creationId xmlns:a16="http://schemas.microsoft.com/office/drawing/2014/main" id="{AF843098-EA58-182C-62AD-E23D3C3936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662" y="0"/>
            <a:ext cx="32063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 dirty="0">
                <a:latin typeface="Lato"/>
                <a:ea typeface="Lato"/>
                <a:cs typeface="Lato"/>
                <a:sym typeface="Lato"/>
              </a:rPr>
              <a:t>Obsah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1865762" y="1019700"/>
            <a:ext cx="40719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Kontext – firma a problémy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Stakeholder View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Strategy View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4. Business architektura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5. IS a technologická architektura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19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6. Přínosy a závěr</a:t>
            </a: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662" y="0"/>
            <a:ext cx="32063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_shape"/>
          <p:cNvSpPr txBox="1">
            <a:spLocks noGrp="1"/>
          </p:cNvSpPr>
          <p:nvPr>
            <p:ph type="title"/>
          </p:nvPr>
        </p:nvSpPr>
        <p:spPr>
          <a:xfrm>
            <a:off x="311700" y="27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Stakeholder View</a:t>
            </a:r>
          </a:p>
        </p:txBody>
      </p:sp>
      <p:pic>
        <p:nvPicPr>
          <p:cNvPr id="81" name="header_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9144001" cy="8400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subtitle_shape"/>
          <p:cNvSpPr txBox="1"/>
          <p:nvPr/>
        </p:nvSpPr>
        <p:spPr>
          <a:xfrm>
            <a:off x="343675" y="302825"/>
            <a:ext cx="83049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500" b="1" dirty="0">
                <a:solidFill>
                  <a:schemeClr val="dk1"/>
                </a:solidFill>
                <a:latin typeface="Lato"/>
              </a:rPr>
              <a:t>Kdo chce co?</a:t>
            </a:r>
          </a:p>
        </p:txBody>
      </p:sp>
      <p:sp>
        <p:nvSpPr>
          <p:cNvPr id="2" name="content_box"/>
          <p:cNvSpPr txBox="1"/>
          <p:nvPr/>
        </p:nvSpPr>
        <p:spPr>
          <a:xfrm>
            <a:off x="311700" y="1100000"/>
            <a:ext cx="852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Zákazníci → konzistentní kvalita kávy („Dostávat vždy kv. kávu z čerstvých zrn“)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Baristu → přehledná manipulace se zásobami, jasná pravidla FEFO (</a:t>
            </a:r>
            <a:r>
              <a:rPr lang="cs-CZ" sz="1800" dirty="0" err="1">
                <a:latin typeface="Lato"/>
                <a:ea typeface="Lato"/>
                <a:cs typeface="Lato"/>
              </a:rPr>
              <a:t>First</a:t>
            </a:r>
            <a:r>
              <a:rPr lang="cs-CZ" sz="1800" dirty="0">
                <a:latin typeface="Lato"/>
                <a:ea typeface="Lato"/>
                <a:cs typeface="Lato"/>
              </a:rPr>
              <a:t> </a:t>
            </a:r>
            <a:r>
              <a:rPr lang="cs-CZ" sz="1800" dirty="0" err="1">
                <a:latin typeface="Lato"/>
                <a:ea typeface="Lato"/>
                <a:cs typeface="Lato"/>
              </a:rPr>
              <a:t>Expired</a:t>
            </a:r>
            <a:r>
              <a:rPr lang="cs-CZ" sz="1800" dirty="0">
                <a:latin typeface="Lato"/>
                <a:ea typeface="Lato"/>
                <a:cs typeface="Lato"/>
              </a:rPr>
              <a:t>, </a:t>
            </a:r>
            <a:r>
              <a:rPr lang="cs-CZ" sz="1800" dirty="0" err="1">
                <a:latin typeface="Lato"/>
                <a:ea typeface="Lato"/>
                <a:cs typeface="Lato"/>
              </a:rPr>
              <a:t>First</a:t>
            </a:r>
            <a:r>
              <a:rPr lang="cs-CZ" sz="1800" dirty="0">
                <a:latin typeface="Lato"/>
                <a:ea typeface="Lato"/>
                <a:cs typeface="Lato"/>
              </a:rPr>
              <a:t> Out)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Majitel → ziskovost, konkurenceschopnost, snížení ztrát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Provozní manažer → úspora času, plýnulý chod, dostatek surovin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cs-CZ" sz="1800" dirty="0">
              <a:latin typeface="Lato"/>
              <a:ea typeface="Lato"/>
              <a:cs typeface="Lato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 err="1">
                <a:latin typeface="Lato"/>
                <a:ea typeface="Lato"/>
                <a:cs typeface="Lato"/>
              </a:rPr>
              <a:t>Strategicé</a:t>
            </a:r>
            <a:r>
              <a:rPr lang="cs-CZ" sz="1800" dirty="0">
                <a:latin typeface="Lato"/>
                <a:ea typeface="Lato"/>
                <a:cs typeface="Lato"/>
              </a:rPr>
              <a:t> cíle: Snížit plýtvání | Zlepšit kvalitu | Zefektivnit objednávky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Hlavní cíl: Zvýšit zisky kavárny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_shape"/>
          <p:cNvSpPr txBox="1">
            <a:spLocks noGrp="1"/>
          </p:cNvSpPr>
          <p:nvPr>
            <p:ph type="title"/>
          </p:nvPr>
        </p:nvSpPr>
        <p:spPr>
          <a:xfrm>
            <a:off x="311700" y="27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Strategy View</a:t>
            </a:r>
          </a:p>
        </p:txBody>
      </p:sp>
      <p:pic>
        <p:nvPicPr>
          <p:cNvPr id="81" name="header_imag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9144001" cy="8400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subtitle_shape"/>
          <p:cNvSpPr txBox="1"/>
          <p:nvPr/>
        </p:nvSpPr>
        <p:spPr>
          <a:xfrm>
            <a:off x="343675" y="302825"/>
            <a:ext cx="83049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s-CZ" sz="2500" b="1" dirty="0">
                <a:solidFill>
                  <a:schemeClr val="dk1"/>
                </a:solidFill>
                <a:latin typeface="Lato"/>
              </a:rPr>
              <a:t>Jak cílů dosáhneme?</a:t>
            </a:r>
          </a:p>
        </p:txBody>
      </p:sp>
      <p:sp>
        <p:nvSpPr>
          <p:cNvPr id="2" name="content_box"/>
          <p:cNvSpPr txBox="1"/>
          <p:nvPr/>
        </p:nvSpPr>
        <p:spPr>
          <a:xfrm>
            <a:off x="311700" y="1100000"/>
            <a:ext cx="852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Implementace FEFO – definován postup spotřeby zásob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Zavedení skladového IS – evidence šarží, expirací a zásob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Prediktivní plánování – objednávky na základě historických dat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Možnosti (</a:t>
            </a:r>
            <a:r>
              <a:rPr lang="cs-CZ" sz="1800" dirty="0" err="1">
                <a:latin typeface="Lato"/>
                <a:ea typeface="Lato"/>
                <a:cs typeface="Lato"/>
              </a:rPr>
              <a:t>Capabilities</a:t>
            </a:r>
            <a:r>
              <a:rPr lang="cs-CZ" sz="1800" dirty="0">
                <a:latin typeface="Lato"/>
                <a:ea typeface="Lato"/>
                <a:cs typeface="Lato"/>
              </a:rPr>
              <a:t>): Evidence zásob | Evidence šarží a expirací | Automatický odpis | Plánování objednávek a analýza spotřeby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_shape"/>
          <p:cNvSpPr txBox="1">
            <a:spLocks noGrp="1"/>
          </p:cNvSpPr>
          <p:nvPr>
            <p:ph type="title"/>
          </p:nvPr>
        </p:nvSpPr>
        <p:spPr>
          <a:xfrm>
            <a:off x="311700" y="27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Business architektura</a:t>
            </a:r>
          </a:p>
        </p:txBody>
      </p:sp>
      <p:pic>
        <p:nvPicPr>
          <p:cNvPr id="81" name="header_imag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9144001" cy="8400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subtitle_shape"/>
          <p:cNvSpPr txBox="1"/>
          <p:nvPr/>
        </p:nvSpPr>
        <p:spPr>
          <a:xfrm>
            <a:off x="343675" y="302825"/>
            <a:ext cx="83049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500" b="1" dirty="0">
                <a:solidFill>
                  <a:schemeClr val="dk1"/>
                </a:solidFill>
                <a:latin typeface="Lato"/>
              </a:rPr>
              <a:t>Baseline → Target: Procesy a data</a:t>
            </a:r>
          </a:p>
        </p:txBody>
      </p:sp>
      <p:sp>
        <p:nvSpPr>
          <p:cNvPr id="2" name="content_box"/>
          <p:cNvSpPr txBox="1"/>
          <p:nvPr/>
        </p:nvSpPr>
        <p:spPr>
          <a:xfrm>
            <a:off x="311700" y="1100000"/>
            <a:ext cx="852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BASELINE: Barista – Příjem zboží → Skladování → Příprava nápojů | Manažer objednává „od oka“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TARGET: Příjem zboží s evidencí šarže → Skladování (FEFO) → Příprava (správná šarže)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Nové objekty: Šarže, Sklad. Evidence, Doporučení objednávek, Objednávka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Klíčová změna: Objednávání „na základě dat“ místo intuice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Výstup: Doporučení objednávek generováno automaticky systémem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_shape"/>
          <p:cNvSpPr txBox="1">
            <a:spLocks noGrp="1"/>
          </p:cNvSpPr>
          <p:nvPr>
            <p:ph type="title"/>
          </p:nvPr>
        </p:nvSpPr>
        <p:spPr>
          <a:xfrm>
            <a:off x="311700" y="27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/>
              <a:t>IS a technologická architektura</a:t>
            </a:r>
          </a:p>
        </p:txBody>
      </p:sp>
      <p:pic>
        <p:nvPicPr>
          <p:cNvPr id="81" name="header_imag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9144001" cy="8400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subtitle_shape"/>
          <p:cNvSpPr txBox="1"/>
          <p:nvPr/>
        </p:nvSpPr>
        <p:spPr>
          <a:xfrm>
            <a:off x="343675" y="302825"/>
            <a:ext cx="83049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500" b="1" dirty="0">
                <a:solidFill>
                  <a:schemeClr val="dk1"/>
                </a:solidFill>
                <a:latin typeface="Lato"/>
              </a:rPr>
              <a:t>Baseline → Target: Aplikace a infrastruktura</a:t>
            </a:r>
          </a:p>
        </p:txBody>
      </p:sp>
      <p:sp>
        <p:nvSpPr>
          <p:cNvPr id="2" name="content_box"/>
          <p:cNvSpPr txBox="1"/>
          <p:nvPr/>
        </p:nvSpPr>
        <p:spPr>
          <a:xfrm>
            <a:off x="311700" y="1100000"/>
            <a:ext cx="852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IS BASELINE: Pouze MS Excel / Manuální evidence – žádná integrace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IS TARGET: Skladový IS se 4 moduly: Evidence šarží a expirací | Řízení nákupu a predikce | Reporting | Integrační rozhraní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Klíč: Integrace pokladní systém ↔ Sklad. IS (automatický odpis dle receptur)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TECH BASELINE: Kancelářský počítač + LAN/Wi-Fi + Pokladní terminál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TECH TARGET: + Cloud (SaaS/PaaS) + Databázový server + Webový server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1800" dirty="0">
                <a:latin typeface="Lato"/>
                <a:ea typeface="Lato"/>
                <a:cs typeface="Lato"/>
              </a:rPr>
              <a:t>Výhoda cloudu: Žádná vlastní serverovna, škálovatelné pro 2. pobočku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1FE36D1-4D52-CC0B-B3AF-394DE71F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762E693-868D-1003-D13B-DCFAE1F7FA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7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Kavárna – Sklad</a:t>
            </a:r>
            <a:endParaRPr/>
          </a:p>
        </p:txBody>
      </p:sp>
      <p:pic>
        <p:nvPicPr>
          <p:cNvPr id="81" name="Google Shape;81;p16">
            <a:extLst>
              <a:ext uri="{FF2B5EF4-FFF2-40B4-BE49-F238E27FC236}">
                <a16:creationId xmlns:a16="http://schemas.microsoft.com/office/drawing/2014/main" id="{7BE6D7A3-2B53-FA5B-0B04-7749DC6477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"/>
            <a:ext cx="9144001" cy="8400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59AFD179-2B82-9B5F-58C7-8E7915E745C5}"/>
              </a:ext>
            </a:extLst>
          </p:cNvPr>
          <p:cNvSpPr txBox="1"/>
          <p:nvPr/>
        </p:nvSpPr>
        <p:spPr>
          <a:xfrm>
            <a:off x="343675" y="302825"/>
            <a:ext cx="83049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5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Přínosy a závěr</a:t>
            </a:r>
            <a:endParaRPr sz="25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786BCFF0-F5F2-8165-4057-A2A4B7DE67ED}"/>
              </a:ext>
            </a:extLst>
          </p:cNvPr>
          <p:cNvSpPr txBox="1"/>
          <p:nvPr/>
        </p:nvSpPr>
        <p:spPr>
          <a:xfrm>
            <a:off x="311700" y="1129104"/>
            <a:ext cx="77611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Snížení plýtvání – automatická evidence expirací eliminuje vyhozené suroviny</a:t>
            </a:r>
            <a:br>
              <a:rPr lang="cs-CZ" sz="2000" dirty="0">
                <a:latin typeface="Lato"/>
              </a:rPr>
            </a:br>
            <a:r>
              <a:rPr lang="cs-CZ" sz="2000" dirty="0">
                <a:latin typeface="Lato"/>
              </a:rPr>
              <a:t>✅ Zlepšení kvality – FEFO zajiští, že zákazník vždy dostane čerstvé kávové zrno</a:t>
            </a:r>
            <a:br>
              <a:rPr lang="cs-CZ" sz="2000" dirty="0">
                <a:latin typeface="Lato"/>
              </a:rPr>
            </a:br>
            <a:r>
              <a:rPr lang="cs-CZ" sz="2000" dirty="0">
                <a:latin typeface="Lato"/>
              </a:rPr>
              <a:t>✅ Úspora času manažera – automatická doporučení objednávek místo odhadu</a:t>
            </a:r>
            <a:br>
              <a:rPr lang="cs-CZ" sz="2000" dirty="0">
                <a:latin typeface="Lato"/>
              </a:rPr>
            </a:br>
            <a:r>
              <a:rPr lang="cs-CZ" sz="2000" dirty="0">
                <a:latin typeface="Lato"/>
              </a:rPr>
              <a:t>✅ Přehled v reálném čase – reportingový modul pro vedení kavárny</a:t>
            </a:r>
            <a:br>
              <a:rPr lang="cs-CZ" sz="2000" dirty="0">
                <a:latin typeface="Lato"/>
              </a:rPr>
            </a:br>
            <a:r>
              <a:rPr lang="cs-CZ" sz="2000" dirty="0">
                <a:latin typeface="Lato"/>
              </a:rPr>
              <a:t>✅ Škálovatelnost – cloud SaaS připraven pro případné rozšíření (2. pobočka)</a:t>
            </a:r>
          </a:p>
        </p:txBody>
      </p:sp>
    </p:spTree>
    <p:extLst>
      <p:ext uri="{BB962C8B-B14F-4D97-AF65-F5344CB8AC3E}">
        <p14:creationId xmlns:p14="http://schemas.microsoft.com/office/powerpoint/2010/main" val="309051010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025" y="0"/>
            <a:ext cx="9270325" cy="51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369400" y="1017725"/>
            <a:ext cx="265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Děkujeme</a:t>
            </a:r>
            <a:endParaRPr sz="25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Google Shape;56;p13">
            <a:extLst>
              <a:ext uri="{FF2B5EF4-FFF2-40B4-BE49-F238E27FC236}">
                <a16:creationId xmlns:a16="http://schemas.microsoft.com/office/drawing/2014/main" id="{BDD4D426-5C23-9F2C-F761-45CDBB328935}"/>
              </a:ext>
            </a:extLst>
          </p:cNvPr>
          <p:cNvSpPr txBox="1"/>
          <p:nvPr/>
        </p:nvSpPr>
        <p:spPr>
          <a:xfrm>
            <a:off x="131757" y="4139200"/>
            <a:ext cx="1939808" cy="569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3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Bc. Tomáš Dvořák </a:t>
            </a:r>
            <a:br>
              <a:rPr lang="cs" sz="13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cs" sz="13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Bc. Šimon Hrdý</a:t>
            </a:r>
            <a:br>
              <a:rPr lang="cs" sz="13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cs" sz="13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Bc. Antonín Pecka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434</Words>
  <Application>Microsoft Office PowerPoint</Application>
  <PresentationFormat>Předvádění na obrazovce (16:9)</PresentationFormat>
  <Paragraphs>44</Paragraphs>
  <Slides>8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Courier New</vt:lpstr>
      <vt:lpstr>Arial</vt:lpstr>
      <vt:lpstr>Lato</vt:lpstr>
      <vt:lpstr>Simple Light</vt:lpstr>
      <vt:lpstr>Kavárna – Sklad</vt:lpstr>
      <vt:lpstr>Obsah</vt:lpstr>
      <vt:lpstr>Stakeholder View</vt:lpstr>
      <vt:lpstr>Strategy View</vt:lpstr>
      <vt:lpstr>Business architektura</vt:lpstr>
      <vt:lpstr>IS a technologická architektura</vt:lpstr>
      <vt:lpstr>Kavárna – Sklad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Pecka Antonín</cp:lastModifiedBy>
  <cp:revision>44</cp:revision>
  <dcterms:modified xsi:type="dcterms:W3CDTF">2026-05-03T09:19:51Z</dcterms:modified>
</cp:coreProperties>
</file>